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notesSlides/notesSlide2.xml" ContentType="application/vnd.openxmlformats-officedocument.presentationml.notesSlide+xml"/>
  <Override PartName="/ppt/tags/tag2.xml" ContentType="application/vnd.openxmlformats-officedocument.presentationml.tags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notesSlides/notesSlide4.xml" ContentType="application/vnd.openxmlformats-officedocument.presentationml.notesSlide+xml"/>
  <Override PartName="/ppt/tags/tag4.xml" ContentType="application/vnd.openxmlformats-officedocument.presentationml.tags+xml"/>
  <Override PartName="/ppt/notesSlides/notesSlide5.xml" ContentType="application/vnd.openxmlformats-officedocument.presentationml.notesSlide+xml"/>
  <Override PartName="/ppt/tags/tag5.xml" ContentType="application/vnd.openxmlformats-officedocument.presentationml.tags+xml"/>
  <Override PartName="/ppt/notesSlides/notesSlide6.xml" ContentType="application/vnd.openxmlformats-officedocument.presentationml.notesSlide+xml"/>
  <Override PartName="/ppt/tags/tag6.xml" ContentType="application/vnd.openxmlformats-officedocument.presentationml.tags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14"/>
  </p:notesMasterIdLst>
  <p:sldIdLst>
    <p:sldId id="256" r:id="rId3"/>
    <p:sldId id="257" r:id="rId4"/>
    <p:sldId id="258" r:id="rId5"/>
    <p:sldId id="259" r:id="rId6"/>
    <p:sldId id="260" r:id="rId7"/>
    <p:sldId id="344" r:id="rId8"/>
    <p:sldId id="345" r:id="rId9"/>
    <p:sldId id="346" r:id="rId10"/>
    <p:sldId id="347" r:id="rId11"/>
    <p:sldId id="348" r:id="rId12"/>
    <p:sldId id="349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73072" autoAdjust="0"/>
  </p:normalViewPr>
  <p:slideViewPr>
    <p:cSldViewPr snapToGrid="0">
      <p:cViewPr varScale="1">
        <p:scale>
          <a:sx n="60" d="100"/>
          <a:sy n="60" d="100"/>
        </p:scale>
        <p:origin x="152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presProps" Target="pres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FE14760-2987-41FC-B6E1-A6F257AE46F6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7FC30FE-7AC7-4656-9546-659789057A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51919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Preprocessing: expands #include, expands macros, and removes comments</a:t>
            </a:r>
          </a:p>
          <a:p>
            <a:r>
              <a:rPr lang="en-US" dirty="0"/>
              <a:t>Compiler: The compiler translates C/C++ into assembly, then machine code.</a:t>
            </a:r>
            <a:br>
              <a:rPr lang="en-US" dirty="0"/>
            </a:br>
            <a:r>
              <a:rPr lang="en-US" dirty="0"/>
              <a:t>                 Main.obj contains machine code, unresolved symbols, and relocation info; Functions from other files are NOT yet resolved.</a:t>
            </a:r>
          </a:p>
          <a:p>
            <a:r>
              <a:rPr lang="en-US" dirty="0"/>
              <a:t>Linker: 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links the object code with the libraries, creates an executable file, and stores it on disk.</a:t>
            </a: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=&gt; Static linking: </a:t>
            </a:r>
            <a:r>
              <a:rPr lang="en-US" dirty="0"/>
              <a:t>The linker extracts required object code then Copies it into the </a:t>
            </a: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.exe</a:t>
            </a:r>
            <a:endParaRPr lang="en-US" sz="1200" b="0" i="0" u="none" strike="noStrike" kern="1200" baseline="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  <a:p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    =&gt; Dynamic linking: .</a:t>
            </a:r>
            <a:r>
              <a:rPr lang="en-US" sz="1200" b="0" i="0" u="none" strike="noStrike" kern="1200" baseline="0" dirty="0" err="1">
                <a:solidFill>
                  <a:schemeClr val="tx1"/>
                </a:solidFill>
                <a:latin typeface="+mn-lt"/>
                <a:ea typeface="+mn-ea"/>
                <a:cs typeface="+mn-cs"/>
              </a:rPr>
              <a:t>dll</a:t>
            </a:r>
            <a:r>
              <a:rPr lang="en-US" sz="1200" b="0" i="0" u="none" strike="noStrike" kern="1200" baseline="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dirty="0"/>
              <a:t>Contains actual compiled machine code and loaded at run time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	               .lib </a:t>
            </a:r>
            <a:r>
              <a:rPr lang="en-US" dirty="0"/>
              <a:t>Import library, Contains symbol information only and Used by the linker</a:t>
            </a:r>
          </a:p>
          <a:p>
            <a:endParaRPr lang="en-US" sz="1200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FC30FE-7AC7-4656-9546-659789057A08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968850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FF2592-203C-5BDE-0479-3315A77D65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007E43F-4312-9CC6-D329-61C5032A42A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948D8E8-A574-4DEE-57C7-C4A4C9F0BC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73045C-919E-FC60-6AC2-89816B92236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92CD1D2-9E42-4E1F-B86C-5AF6F74F604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7208616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B63B8E-6949-AC8D-CF0D-24853E7209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7AD8A6E-7314-A5D4-2B2E-8F5441425F3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74025D2-BB06-1E44-FE1C-F02B7FB3F63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20B69A7-3440-ECD1-1DA1-A8B647B5753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92CD1D2-9E42-4E1F-B86C-5AF6F74F604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76030861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F2F6FF-85E5-321B-3E97-63282A6FB3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AA9A3D5-CDC3-E1B6-B975-1E89451EC75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7386FFD-F130-1627-8237-67474AAB6B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A09F65-B13D-A8B7-9CD3-316CC9EA9FF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92CD1D2-9E42-4E1F-B86C-5AF6F74F604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0171826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B43B6C-0C52-FED2-356E-978782C6DF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84B194A-47D1-7D10-B316-CC667DBB561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4CFCB0D-22E4-D3C9-BEB8-E5855C06CBB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73A80CA-0BB9-FDB5-4DC6-0BED2C8574F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92CD1D2-9E42-4E1F-B86C-5AF6F74F604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6562436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973CCB-CA37-FF42-FE28-C87A4AA23A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83F91EC-4C02-6C20-BD2B-1676FDD0832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3D156BA-2005-109B-6D72-41363B630DC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DE3352-F004-4B28-29BF-9EDD7DB6155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92CD1D2-9E42-4E1F-B86C-5AF6F74F604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5980195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CAC2EF-BEA6-D596-4CF3-C79E832719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BF07C68-D74D-FE51-9F99-3B8657E93B8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B7DC004-6A4B-DE4C-B420-B48EF3B433F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7A02DE0-48E7-3A1B-E084-7B55AA712F4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92CD1D2-9E42-4E1F-B86C-5AF6F74F6041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949393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56BDC5-84F1-25F2-F593-6E4A4A7DA0C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859EE1F-6454-29CA-0B14-067414EBD1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67DC79A-D777-1554-0AA8-DF008FE8D5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D925FC-16E2-4760-8BBA-129557D517F1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72A933-3A57-37A6-031F-7B46F14F61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0C70BA-2295-7359-263D-F633F7D6D7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4FECC-3378-4A83-851D-3B59D55BD4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95823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0157C8-0C44-9837-8208-8CD3FE8FA3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90D8DF-8202-D871-7A04-8521183D51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EC8BA0-BDA9-732F-1C91-6D209B8206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D925FC-16E2-4760-8BBA-129557D517F1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A87171-1CD6-ACCE-049F-D9227DA509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E728B8-24DD-40CD-92BF-A4BD7E4775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4FECC-3378-4A83-851D-3B59D55BD4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89874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5A94D2-7D13-02C2-6131-9D3A6642B6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1AA421-D9DE-E032-7DED-3D19987F06C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FF0728-EF07-7E6F-C113-A9A82B6719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D925FC-16E2-4760-8BBA-129557D517F1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E34D14-B4B7-ABA4-219F-72EA4C5AAE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58578C-E9E5-4869-8574-913FA878BE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4FECC-3378-4A83-851D-3B59D55BD4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79208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56310A-B24A-9A97-BC39-9253D14B86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C8DE60-75DA-A1F4-4943-12F47CD4F6C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518E996-19E1-1ED5-2B25-0C601F5AB4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7372EB-24D0-92FD-EFA9-DFCD5D856A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D925FC-16E2-4760-8BBA-129557D517F1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08C728D-BE2D-27DA-9DAD-37C597AFCB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591C820-7316-83BF-9F73-24167360F8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4FECC-3378-4A83-851D-3B59D55BD4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00309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D0651D-6EB9-BDDE-A12B-45790AC92D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21C7F6-CE80-AFF9-0EBF-1410BB1FD6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6376A25-30D1-BC8F-6C4B-5557987AEB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1C19201-F674-C8FC-9CAC-3AA70D8FE4F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2DC2F45-AECC-8666-7E96-BADC6000DB0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01CD8C1-02BB-2DAD-0E0E-8AA796BB62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D925FC-16E2-4760-8BBA-129557D517F1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7C21C37-DE25-4D35-4B99-9D8037B2C1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F9434E2-2825-BD95-9468-96ECEECF41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4FECC-3378-4A83-851D-3B59D55BD4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26311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05DA2C-1511-40C9-244A-F12CF27315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18271D3-7750-8998-F10F-DB0F8CABEE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D925FC-16E2-4760-8BBA-129557D517F1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809A25A-7384-814E-00D3-37589C2E89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4146E66-0C2A-9CA7-93F5-2B907D3A02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4FECC-3378-4A83-851D-3B59D55BD4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05908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F9CE336-2A92-E325-1B68-279EADA756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D925FC-16E2-4760-8BBA-129557D517F1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27B82CE-C7E9-227E-D831-9868CD66BE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A3678D-557B-C65C-EA59-995CFCABEB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4FECC-3378-4A83-851D-3B59D55BD4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04371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44B4F7-6B7A-7ED5-F73D-E14EAE1B87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BB2279-C497-CE25-F10D-A4DA51F81D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55AF541-F397-99A9-C53E-F66758361A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6F86E30-BAFF-53F1-0559-A8EEB398E6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D925FC-16E2-4760-8BBA-129557D517F1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073D538-1326-047C-3C20-796B5B08A6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0FB249-EE5C-47A5-8FDA-96CCAF0D81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4FECC-3378-4A83-851D-3B59D55BD4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40711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75ADAC-3955-2BE2-8717-F919B1B8A1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AAB103-181B-D96D-EF22-056252ABE3E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4144EFC-1537-04FE-25C8-322C96B054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3AA516-BDDB-6225-04E4-B6A3A4A404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D925FC-16E2-4760-8BBA-129557D517F1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830C3C-FCDC-DA51-144D-9A16B68824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1FFA7FF-9C48-8DD2-DE7C-B96A61198F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4FECC-3378-4A83-851D-3B59D55BD4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94472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7C0308-2F3F-24BD-585E-C61288CB2E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FC98F12-9E0F-3E92-6348-79D515DAB48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0EF97B-166B-9D18-72B9-32B3530947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D925FC-16E2-4760-8BBA-129557D517F1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680055-6534-5781-4AD5-774749F9F1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006730-4630-46C2-C4D1-50DC51888E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4FECC-3378-4A83-851D-3B59D55BD4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69461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8C05A29-F365-6770-11D9-D333736982C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DC253FA-EE87-A347-88C2-8B8089EAE8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323F83-A161-6C6B-8566-35434820A5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D925FC-16E2-4760-8BBA-129557D517F1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68384C-7055-FD31-D397-1BC28DC958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194ED2-2741-B46D-921C-EDAB18865B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B4FECC-3378-4A83-851D-3B59D55BD4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233106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8971E4-84D6-46C7-ADFE-3ECF8ABA39E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51D430-E4C3-6A36-1E49-9235C331EF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489847-1B59-8670-CC1B-02D9717C6B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874ADB-857A-4B14-910F-26484C92DDEB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CBD36F-E7DC-2678-7195-0CEC8D89A2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713223-3EFD-ACB3-D796-5C2394329E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D82230-A9B5-46FE-A5A0-1D461AB253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103772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0F210F-6C34-F18E-20C8-CCD5857689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E58610-9713-5BED-7B1D-4B0FB00F8B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BB4856-F5E4-B30F-E0D7-566040CDC6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874ADB-857A-4B14-910F-26484C92DDEB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0DF7A9-F4BA-410C-2362-680A10E46F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C380C6-31A2-5836-7911-25A61B61F4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D82230-A9B5-46FE-A5A0-1D461AB253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660893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161805-9207-0525-1178-4496588FE6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52ACC7-CCB0-5F8C-128F-862DBA2D98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21734C-B308-5651-2A3D-E784D7BA9C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874ADB-857A-4B14-910F-26484C92DDEB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B97B01-1152-DFC2-51AE-F944F4B510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91B342-340C-39BA-58CF-3C42DD3138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D82230-A9B5-46FE-A5A0-1D461AB253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956082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1E0C14-3C6C-12E1-76A1-BEB157C136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D5D170-E1F1-A2AA-48DC-EFF354C43B9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9435B42-C42E-1670-4B6D-6A3FBF73FB1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47A5DC-68F8-A67B-9187-2744607DBF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874ADB-857A-4B14-910F-26484C92DDEB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45C498D-9350-DBE5-5E12-B6A1900FD9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DE50A5F-8DCF-94CB-E081-042CBB3FC2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D82230-A9B5-46FE-A5A0-1D461AB253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144971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ED1008-2B1D-3462-E7B6-6254A1CDB9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64EDB5-D5A9-206F-EF10-74F866456A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38083EA-70D6-1A9D-04D6-F1574C49950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668D49B-DC87-E91C-8D47-7CFAFE45DC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8E041EE-012E-B741-5364-20B5ECC3184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B54F774-4AD3-6631-4C22-C2E8692B98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874ADB-857A-4B14-910F-26484C92DDEB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35EE707-7062-3057-A209-7CFB362F85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8E02F52-A37C-29C8-9ADC-40FD9608EA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D82230-A9B5-46FE-A5A0-1D461AB253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999020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86D6E6-2C96-30ED-7FE1-39E21448D4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9565B39-9A62-9EE8-66ED-C95CE8B474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874ADB-857A-4B14-910F-26484C92DDEB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98D53D4-8FB4-A297-D04D-2DC3F094C1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DD2277-9F66-B8C8-46CD-7A3BDED1D9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D82230-A9B5-46FE-A5A0-1D461AB253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470529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2FF4DE9-4941-DAEB-2741-451454EEA7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874ADB-857A-4B14-910F-26484C92DDEB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26FD54-439D-A444-A4F3-0EF2971AB8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4C508C-80BA-E126-FCDD-DFEEE8A0D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D82230-A9B5-46FE-A5A0-1D461AB253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703964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62DB19-2912-997D-EFDC-5BF3354CCE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656C70-E414-649B-4685-B81F7CF9BA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C2C3765-2FFF-C554-C5E6-C9842D16906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9E7BCDC-AB1B-D8D0-7185-0742D852FC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874ADB-857A-4B14-910F-26484C92DDEB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9DD338-8D4A-5EE3-FCB4-033B82731C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691342-3A34-1054-F017-D15E515294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D82230-A9B5-46FE-A5A0-1D461AB253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868795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4FB6FB-1404-9315-7887-80A29FF5EA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354D280-4C25-E3A6-6BC5-D07E3320996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790E666-C01A-3AE6-1CD3-82BB60B4A31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3691C0-CC6D-06B6-E36A-2FE9D5C6B0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874ADB-857A-4B14-910F-26484C92DDEB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EB2B21-03F5-D66E-0158-55611C0BC5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5B6308-26EF-719A-4B1B-40DFBA334C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D82230-A9B5-46FE-A5A0-1D461AB253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402706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BCE202-737B-6DEE-C578-4833090E09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7CEB0F2-007D-9DDD-27EB-9F134F9CCEF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902461-6A44-53D3-A91F-78168EFDD5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874ADB-857A-4B14-910F-26484C92DDEB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0DBFE8-16B9-A316-C06A-2BD10D922E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445A99-24DF-B6AD-C6C2-3381A1EDFD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D82230-A9B5-46FE-A5A0-1D461AB253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31269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78B6046-EA66-D1B7-F64F-5CD5DEED526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8AFF879-E559-D29F-17A0-97E17CB6DF1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E6D4BC-1E81-77CF-50AF-50942F04B2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874ADB-857A-4B14-910F-26484C92DDEB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5D5F07-0E87-21F8-5D87-5D7784F4A7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FA8072-9F19-0EB8-440B-9A7855234C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D82230-A9B5-46FE-A5A0-1D461AB253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82789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AEFCF8D-8049-7DEE-2F5E-30B8C0677E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999D1B-588D-8CE8-7BA3-9A14C58EE4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3C1E081-13C9-DC07-C35E-30B6024B859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0D925FC-16E2-4760-8BBA-129557D517F1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B07867-CD4F-61B7-7D30-586CCCBDB4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EF065B-A6B6-89FA-A36F-73BD3CEC3E9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7B4FECC-3378-4A83-851D-3B59D55BD41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20766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96BAD12-3039-3EED-1E8F-C0F1E5A86B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A08A7A-E1D8-4EAD-343F-8FB31AA30E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59C78B-21A0-DF8C-6E9A-15E16F176F3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C874ADB-857A-4B14-910F-26484C92DDEB}" type="datetimeFigureOut">
              <a:rPr lang="en-US" smtClean="0"/>
              <a:t>2/15/2026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3630DC-BB94-14BD-7C1A-7D15A6CBB9C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96DBDF-9343-4C66-AD75-B1279CCAE2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CD82230-A9B5-46FE-A5A0-1D461AB253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56676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7.xml"/><Relationship Id="rId1" Type="http://schemas.openxmlformats.org/officeDocument/2006/relationships/tags" Target="../tags/tag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7.xml"/><Relationship Id="rId1" Type="http://schemas.openxmlformats.org/officeDocument/2006/relationships/tags" Target="../tags/tag2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7.xml"/><Relationship Id="rId1" Type="http://schemas.openxmlformats.org/officeDocument/2006/relationships/tags" Target="../tags/tag3.xml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7.xml"/><Relationship Id="rId1" Type="http://schemas.openxmlformats.org/officeDocument/2006/relationships/tags" Target="../tags/tag4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7.xml"/><Relationship Id="rId1" Type="http://schemas.openxmlformats.org/officeDocument/2006/relationships/tags" Target="../tags/tag5.xml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2FB79750-45C1-455C-65CA-2308A2EFA9C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2"/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BA273C3-8B7C-39C1-3689-CE8B4D26A613}"/>
              </a:ext>
            </a:extLst>
          </p:cNvPr>
          <p:cNvSpPr txBox="1"/>
          <p:nvPr/>
        </p:nvSpPr>
        <p:spPr>
          <a:xfrm>
            <a:off x="3814915" y="176981"/>
            <a:ext cx="8141111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Go </a:t>
            </a:r>
            <a:br>
              <a:rPr lang="en-US" sz="6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6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Fundamentals Part I</a:t>
            </a:r>
          </a:p>
        </p:txBody>
      </p:sp>
    </p:spTree>
    <p:extLst>
      <p:ext uri="{BB962C8B-B14F-4D97-AF65-F5344CB8AC3E}">
        <p14:creationId xmlns:p14="http://schemas.microsoft.com/office/powerpoint/2010/main" val="20803555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bg1">
                <a:lumMod val="95000"/>
              </a:schemeClr>
            </a:gs>
            <a:gs pos="74000">
              <a:schemeClr val="bg1">
                <a:lumMod val="85000"/>
              </a:schemeClr>
            </a:gs>
            <a:gs pos="83000">
              <a:schemeClr val="bg1">
                <a:lumMod val="75000"/>
              </a:schemeClr>
            </a:gs>
            <a:gs pos="100000">
              <a:schemeClr val="bg1">
                <a:lumMod val="5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B86908-1DF5-46B1-1CDF-B1250FB2F8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9271" y="99655"/>
            <a:ext cx="10515600" cy="1040888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Compilers, Interpreters, and JIT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B1440993-4518-8CC1-F942-F4BB46E2853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68404183"/>
              </p:ext>
            </p:extLst>
          </p:nvPr>
        </p:nvGraphicFramePr>
        <p:xfrm>
          <a:off x="621890" y="1630680"/>
          <a:ext cx="10515600" cy="3596640"/>
        </p:xfrm>
        <a:graphic>
          <a:graphicData uri="http://schemas.openxmlformats.org/drawingml/2006/table">
            <a:tbl>
              <a:tblPr/>
              <a:tblGrid>
                <a:gridCol w="2628900">
                  <a:extLst>
                    <a:ext uri="{9D8B030D-6E8A-4147-A177-3AD203B41FA5}">
                      <a16:colId xmlns:a16="http://schemas.microsoft.com/office/drawing/2014/main" val="2947440228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902488924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1669903932"/>
                    </a:ext>
                  </a:extLst>
                </a:gridCol>
                <a:gridCol w="2628900">
                  <a:extLst>
                    <a:ext uri="{9D8B030D-6E8A-4147-A177-3AD203B41FA5}">
                      <a16:colId xmlns:a16="http://schemas.microsoft.com/office/drawing/2014/main" val="309777866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Feature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Compiler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Interpreter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JIT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6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0772871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Translation Time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Before execution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During execution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During execution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36591878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Output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Native executable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No separate file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Native code generated at runtime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71968903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Speed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Very fast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Slower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Fast (after warm-up)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2037787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Error Detection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After compilation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Line by line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Mixed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56953225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Example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C, C++, Go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Python, JS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Java, C#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805618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874367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bg1">
                <a:lumMod val="95000"/>
              </a:schemeClr>
            </a:gs>
            <a:gs pos="74000">
              <a:schemeClr val="bg1">
                <a:lumMod val="85000"/>
              </a:schemeClr>
            </a:gs>
            <a:gs pos="83000">
              <a:schemeClr val="bg1">
                <a:lumMod val="75000"/>
              </a:schemeClr>
            </a:gs>
            <a:gs pos="100000">
              <a:schemeClr val="bg1">
                <a:lumMod val="50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07D15EA-DCF9-5B77-E9C7-8B93431D6B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F3C7EA-B637-1F5C-59E3-982E4DA609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9271" y="99655"/>
            <a:ext cx="10515600" cy="1040888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Compilers, Interpreters, and JIT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F4E71264-4D69-0469-E5DD-35DBCA717298}"/>
              </a:ext>
            </a:extLst>
          </p:cNvPr>
          <p:cNvGrpSpPr/>
          <p:nvPr/>
        </p:nvGrpSpPr>
        <p:grpSpPr>
          <a:xfrm>
            <a:off x="189271" y="1671485"/>
            <a:ext cx="1307691" cy="2143431"/>
            <a:chOff x="221225" y="1140543"/>
            <a:chExt cx="1307691" cy="2143431"/>
          </a:xfrm>
        </p:grpSpPr>
        <p:pic>
          <p:nvPicPr>
            <p:cNvPr id="9" name="Graphic 8" descr="Database with solid fill">
              <a:extLst>
                <a:ext uri="{FF2B5EF4-FFF2-40B4-BE49-F238E27FC236}">
                  <a16:creationId xmlns:a16="http://schemas.microsoft.com/office/drawing/2014/main" id="{224E8771-96C8-CC85-31A3-F0C0F9E5D03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414184" y="1140543"/>
              <a:ext cx="921772" cy="921772"/>
            </a:xfrm>
            <a:prstGeom prst="rect">
              <a:avLst/>
            </a:prstGeom>
          </p:spPr>
        </p:pic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DA04A71E-142D-BA04-EE8D-78D20A2375B9}"/>
                </a:ext>
              </a:extLst>
            </p:cNvPr>
            <p:cNvSpPr/>
            <p:nvPr/>
          </p:nvSpPr>
          <p:spPr>
            <a:xfrm>
              <a:off x="221225" y="2566219"/>
              <a:ext cx="1307691" cy="71775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latin typeface="Arial" panose="020B0604020202020204" pitchFamily="34" charset="0"/>
                  <a:cs typeface="Arial" panose="020B0604020202020204" pitchFamily="34" charset="0"/>
                </a:rPr>
                <a:t>Editor</a:t>
              </a:r>
              <a:br>
                <a:rPr lang="en-US" b="1" dirty="0">
                  <a:latin typeface="Arial" panose="020B0604020202020204" pitchFamily="34" charset="0"/>
                  <a:cs typeface="Arial" panose="020B0604020202020204" pitchFamily="34" charset="0"/>
                </a:rPr>
              </a:br>
              <a:r>
                <a:rPr lang="en-US" b="1" dirty="0">
                  <a:latin typeface="Arial" panose="020B0604020202020204" pitchFamily="34" charset="0"/>
                  <a:cs typeface="Arial" panose="020B0604020202020204" pitchFamily="34" charset="0"/>
                </a:rPr>
                <a:t>(VS code)</a:t>
              </a:r>
            </a:p>
          </p:txBody>
        </p: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AC1E96CD-0623-0FA2-23F2-FC49B3C7ECAC}"/>
                </a:ext>
              </a:extLst>
            </p:cNvPr>
            <p:cNvCxnSpPr>
              <a:endCxn id="12" idx="0"/>
            </p:cNvCxnSpPr>
            <p:nvPr/>
          </p:nvCxnSpPr>
          <p:spPr>
            <a:xfrm>
              <a:off x="875070" y="2062315"/>
              <a:ext cx="1" cy="503904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8A75A66A-C37A-377F-1346-E69349CAFE40}"/>
              </a:ext>
            </a:extLst>
          </p:cNvPr>
          <p:cNvGrpSpPr/>
          <p:nvPr/>
        </p:nvGrpSpPr>
        <p:grpSpPr>
          <a:xfrm>
            <a:off x="1878272" y="1807906"/>
            <a:ext cx="1687459" cy="2074605"/>
            <a:chOff x="221225" y="1140543"/>
            <a:chExt cx="1307691" cy="2143431"/>
          </a:xfrm>
        </p:grpSpPr>
        <p:pic>
          <p:nvPicPr>
            <p:cNvPr id="17" name="Graphic 16" descr="Database with solid fill">
              <a:extLst>
                <a:ext uri="{FF2B5EF4-FFF2-40B4-BE49-F238E27FC236}">
                  <a16:creationId xmlns:a16="http://schemas.microsoft.com/office/drawing/2014/main" id="{9A6E7CCC-DA5F-0EFF-FBD4-D4E655B535B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517908" y="1140543"/>
              <a:ext cx="714324" cy="921772"/>
            </a:xfrm>
            <a:prstGeom prst="rect">
              <a:avLst/>
            </a:prstGeom>
          </p:spPr>
        </p:pic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2B9A2DCE-27D8-E5C4-50A7-4C3524D0AFFF}"/>
                </a:ext>
              </a:extLst>
            </p:cNvPr>
            <p:cNvSpPr/>
            <p:nvPr/>
          </p:nvSpPr>
          <p:spPr>
            <a:xfrm>
              <a:off x="221225" y="2566219"/>
              <a:ext cx="1307691" cy="71775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latin typeface="Arial" panose="020B0604020202020204" pitchFamily="34" charset="0"/>
                  <a:cs typeface="Arial" panose="020B0604020202020204" pitchFamily="34" charset="0"/>
                </a:rPr>
                <a:t>Preprocessor</a:t>
              </a:r>
            </a:p>
          </p:txBody>
        </p: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79911659-09C8-5804-6270-63A2712FA7AF}"/>
                </a:ext>
              </a:extLst>
            </p:cNvPr>
            <p:cNvCxnSpPr>
              <a:endCxn id="18" idx="0"/>
            </p:cNvCxnSpPr>
            <p:nvPr/>
          </p:nvCxnSpPr>
          <p:spPr>
            <a:xfrm>
              <a:off x="875070" y="2062315"/>
              <a:ext cx="1" cy="503904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0" name="Arrow: Right 19">
            <a:extLst>
              <a:ext uri="{FF2B5EF4-FFF2-40B4-BE49-F238E27FC236}">
                <a16:creationId xmlns:a16="http://schemas.microsoft.com/office/drawing/2014/main" id="{DAC34F09-4AFA-1612-3F2F-B95F8283C3BE}"/>
              </a:ext>
            </a:extLst>
          </p:cNvPr>
          <p:cNvSpPr/>
          <p:nvPr/>
        </p:nvSpPr>
        <p:spPr>
          <a:xfrm>
            <a:off x="1229339" y="2510911"/>
            <a:ext cx="535245" cy="21876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760CBA8B-7AAC-E016-B4A6-568DF399EDC7}"/>
              </a:ext>
            </a:extLst>
          </p:cNvPr>
          <p:cNvGrpSpPr/>
          <p:nvPr/>
        </p:nvGrpSpPr>
        <p:grpSpPr>
          <a:xfrm>
            <a:off x="3950726" y="1807906"/>
            <a:ext cx="1307691" cy="2143431"/>
            <a:chOff x="221225" y="1140543"/>
            <a:chExt cx="1307691" cy="2143431"/>
          </a:xfrm>
        </p:grpSpPr>
        <p:pic>
          <p:nvPicPr>
            <p:cNvPr id="26" name="Graphic 25" descr="Database with solid fill">
              <a:extLst>
                <a:ext uri="{FF2B5EF4-FFF2-40B4-BE49-F238E27FC236}">
                  <a16:creationId xmlns:a16="http://schemas.microsoft.com/office/drawing/2014/main" id="{7C31AD7D-F77E-CBDC-A5F3-3FB483B5952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414184" y="1140543"/>
              <a:ext cx="921772" cy="921772"/>
            </a:xfrm>
            <a:prstGeom prst="rect">
              <a:avLst/>
            </a:prstGeom>
          </p:spPr>
        </p:pic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E26ED88B-952B-DC59-A803-161925A3E159}"/>
                </a:ext>
              </a:extLst>
            </p:cNvPr>
            <p:cNvSpPr/>
            <p:nvPr/>
          </p:nvSpPr>
          <p:spPr>
            <a:xfrm>
              <a:off x="221225" y="2566219"/>
              <a:ext cx="1307691" cy="71775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latin typeface="Arial" panose="020B0604020202020204" pitchFamily="34" charset="0"/>
                  <a:cs typeface="Arial" panose="020B0604020202020204" pitchFamily="34" charset="0"/>
                </a:rPr>
                <a:t>Compiler</a:t>
              </a:r>
            </a:p>
          </p:txBody>
        </p:sp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298EB2AF-EAC4-F5E9-B7C6-0668383697D9}"/>
                </a:ext>
              </a:extLst>
            </p:cNvPr>
            <p:cNvCxnSpPr>
              <a:endCxn id="27" idx="0"/>
            </p:cNvCxnSpPr>
            <p:nvPr/>
          </p:nvCxnSpPr>
          <p:spPr>
            <a:xfrm>
              <a:off x="875070" y="2062315"/>
              <a:ext cx="1" cy="503904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9" name="Arrow: Right 28">
            <a:extLst>
              <a:ext uri="{FF2B5EF4-FFF2-40B4-BE49-F238E27FC236}">
                <a16:creationId xmlns:a16="http://schemas.microsoft.com/office/drawing/2014/main" id="{FFA5715D-B534-BD55-62F4-C7623E57F400}"/>
              </a:ext>
            </a:extLst>
          </p:cNvPr>
          <p:cNvSpPr/>
          <p:nvPr/>
        </p:nvSpPr>
        <p:spPr>
          <a:xfrm>
            <a:off x="3298108" y="2481313"/>
            <a:ext cx="535245" cy="21876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008900C1-3AFE-81E9-97DA-E74EF2189246}"/>
              </a:ext>
            </a:extLst>
          </p:cNvPr>
          <p:cNvGrpSpPr/>
          <p:nvPr/>
        </p:nvGrpSpPr>
        <p:grpSpPr>
          <a:xfrm>
            <a:off x="5719302" y="1698522"/>
            <a:ext cx="2922211" cy="2252815"/>
            <a:chOff x="221225" y="1031159"/>
            <a:chExt cx="2922211" cy="2252815"/>
          </a:xfrm>
        </p:grpSpPr>
        <p:pic>
          <p:nvPicPr>
            <p:cNvPr id="31" name="Graphic 30" descr="Database with solid fill">
              <a:extLst>
                <a:ext uri="{FF2B5EF4-FFF2-40B4-BE49-F238E27FC236}">
                  <a16:creationId xmlns:a16="http://schemas.microsoft.com/office/drawing/2014/main" id="{0D9913B1-D820-2E88-ABD8-DFC08049B31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414184" y="1140543"/>
              <a:ext cx="921772" cy="921772"/>
            </a:xfrm>
            <a:prstGeom prst="rect">
              <a:avLst/>
            </a:prstGeom>
          </p:spPr>
        </p:pic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D3143B0E-254C-BAA1-54B9-FD5F33B731E6}"/>
                </a:ext>
              </a:extLst>
            </p:cNvPr>
            <p:cNvSpPr/>
            <p:nvPr/>
          </p:nvSpPr>
          <p:spPr>
            <a:xfrm>
              <a:off x="221225" y="2566219"/>
              <a:ext cx="1307691" cy="717755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>
                  <a:latin typeface="Arial" panose="020B0604020202020204" pitchFamily="34" charset="0"/>
                  <a:cs typeface="Arial" panose="020B0604020202020204" pitchFamily="34" charset="0"/>
                </a:rPr>
                <a:t>Linker</a:t>
              </a:r>
            </a:p>
          </p:txBody>
        </p:sp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1C6A711F-E000-4A9E-3EF5-5815886636E1}"/>
                </a:ext>
              </a:extLst>
            </p:cNvPr>
            <p:cNvCxnSpPr>
              <a:endCxn id="32" idx="0"/>
            </p:cNvCxnSpPr>
            <p:nvPr/>
          </p:nvCxnSpPr>
          <p:spPr>
            <a:xfrm>
              <a:off x="875070" y="2062315"/>
              <a:ext cx="1" cy="503904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pic>
          <p:nvPicPr>
            <p:cNvPr id="37" name="Graphic 36" descr="Database with solid fill">
              <a:extLst>
                <a:ext uri="{FF2B5EF4-FFF2-40B4-BE49-F238E27FC236}">
                  <a16:creationId xmlns:a16="http://schemas.microsoft.com/office/drawing/2014/main" id="{872A5253-A629-F564-3847-A6109B9FE2B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2221664" y="1031159"/>
              <a:ext cx="921772" cy="921772"/>
            </a:xfrm>
            <a:prstGeom prst="rect">
              <a:avLst/>
            </a:prstGeom>
          </p:spPr>
        </p:pic>
      </p:grpSp>
      <p:sp>
        <p:nvSpPr>
          <p:cNvPr id="34" name="Arrow: Right 33">
            <a:extLst>
              <a:ext uri="{FF2B5EF4-FFF2-40B4-BE49-F238E27FC236}">
                <a16:creationId xmlns:a16="http://schemas.microsoft.com/office/drawing/2014/main" id="{3F2EC648-6F5E-5E99-B312-55A720C18F3F}"/>
              </a:ext>
            </a:extLst>
          </p:cNvPr>
          <p:cNvSpPr/>
          <p:nvPr/>
        </p:nvSpPr>
        <p:spPr>
          <a:xfrm>
            <a:off x="5184057" y="2494935"/>
            <a:ext cx="535245" cy="21876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Arrow: Right 35">
            <a:extLst>
              <a:ext uri="{FF2B5EF4-FFF2-40B4-BE49-F238E27FC236}">
                <a16:creationId xmlns:a16="http://schemas.microsoft.com/office/drawing/2014/main" id="{5C48A007-D092-9EB2-3B40-530F90814533}"/>
              </a:ext>
            </a:extLst>
          </p:cNvPr>
          <p:cNvSpPr/>
          <p:nvPr/>
        </p:nvSpPr>
        <p:spPr>
          <a:xfrm>
            <a:off x="7026992" y="2477623"/>
            <a:ext cx="535245" cy="21876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39" name="Table 38">
            <a:extLst>
              <a:ext uri="{FF2B5EF4-FFF2-40B4-BE49-F238E27FC236}">
                <a16:creationId xmlns:a16="http://schemas.microsoft.com/office/drawing/2014/main" id="{CC580466-3480-C6FA-56E3-EB88EE7E7EE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0844064"/>
              </p:ext>
            </p:extLst>
          </p:nvPr>
        </p:nvGraphicFramePr>
        <p:xfrm>
          <a:off x="8962020" y="351431"/>
          <a:ext cx="1457137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57137">
                  <a:extLst>
                    <a:ext uri="{9D8B030D-6E8A-4147-A177-3AD203B41FA5}">
                      <a16:colId xmlns:a16="http://schemas.microsoft.com/office/drawing/2014/main" val="2175922154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RAM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72978498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1869726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21275899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4845019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0012269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21890574"/>
                  </a:ext>
                </a:extLst>
              </a:tr>
            </a:tbl>
          </a:graphicData>
        </a:graphic>
      </p:graphicFrame>
      <p:sp>
        <p:nvSpPr>
          <p:cNvPr id="40" name="Rectangle 39">
            <a:extLst>
              <a:ext uri="{FF2B5EF4-FFF2-40B4-BE49-F238E27FC236}">
                <a16:creationId xmlns:a16="http://schemas.microsoft.com/office/drawing/2014/main" id="{FED1EF66-17AD-7772-572E-FD07F39D4B65}"/>
              </a:ext>
            </a:extLst>
          </p:cNvPr>
          <p:cNvSpPr/>
          <p:nvPr/>
        </p:nvSpPr>
        <p:spPr>
          <a:xfrm>
            <a:off x="7948762" y="3227132"/>
            <a:ext cx="1307691" cy="71775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Loader</a:t>
            </a:r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61109230-969E-0762-C464-BA09838366DC}"/>
              </a:ext>
            </a:extLst>
          </p:cNvPr>
          <p:cNvCxnSpPr>
            <a:cxnSpLocks/>
            <a:stCxn id="37" idx="2"/>
          </p:cNvCxnSpPr>
          <p:nvPr/>
        </p:nvCxnSpPr>
        <p:spPr>
          <a:xfrm>
            <a:off x="8180627" y="2620294"/>
            <a:ext cx="0" cy="56750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32C3320D-9891-D1E1-E2EE-36DB3E5B7D07}"/>
              </a:ext>
            </a:extLst>
          </p:cNvPr>
          <p:cNvCxnSpPr/>
          <p:nvPr/>
        </p:nvCxnSpPr>
        <p:spPr>
          <a:xfrm flipV="1">
            <a:off x="9163665" y="2545991"/>
            <a:ext cx="0" cy="64181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5" name="Rectangle 44">
            <a:extLst>
              <a:ext uri="{FF2B5EF4-FFF2-40B4-BE49-F238E27FC236}">
                <a16:creationId xmlns:a16="http://schemas.microsoft.com/office/drawing/2014/main" id="{BD88E80A-4E44-3433-796A-64155281201B}"/>
              </a:ext>
            </a:extLst>
          </p:cNvPr>
          <p:cNvSpPr/>
          <p:nvPr/>
        </p:nvSpPr>
        <p:spPr>
          <a:xfrm>
            <a:off x="9831640" y="3233582"/>
            <a:ext cx="1307691" cy="71775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CPU</a:t>
            </a:r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3EC2F8D1-5358-5F41-56B1-E514256FDC91}"/>
              </a:ext>
            </a:extLst>
          </p:cNvPr>
          <p:cNvCxnSpPr/>
          <p:nvPr/>
        </p:nvCxnSpPr>
        <p:spPr>
          <a:xfrm flipV="1">
            <a:off x="10235381" y="2545991"/>
            <a:ext cx="0" cy="64181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7" name="Rectangle 46">
            <a:extLst>
              <a:ext uri="{FF2B5EF4-FFF2-40B4-BE49-F238E27FC236}">
                <a16:creationId xmlns:a16="http://schemas.microsoft.com/office/drawing/2014/main" id="{EC3BB793-1064-C8DA-B2C9-C2A51FA221DE}"/>
              </a:ext>
            </a:extLst>
          </p:cNvPr>
          <p:cNvSpPr/>
          <p:nvPr/>
        </p:nvSpPr>
        <p:spPr>
          <a:xfrm>
            <a:off x="189271" y="4005418"/>
            <a:ext cx="1307692" cy="35396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main.c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855C93DF-2722-8F25-4954-AF91DDF6E68A}"/>
              </a:ext>
            </a:extLst>
          </p:cNvPr>
          <p:cNvSpPr/>
          <p:nvPr/>
        </p:nvSpPr>
        <p:spPr>
          <a:xfrm>
            <a:off x="1816050" y="4079978"/>
            <a:ext cx="1811902" cy="69470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Expanded source (temp)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C70BBFE5-CE65-7448-C2A1-6440E2DFFA0A}"/>
              </a:ext>
            </a:extLst>
          </p:cNvPr>
          <p:cNvSpPr/>
          <p:nvPr/>
        </p:nvSpPr>
        <p:spPr>
          <a:xfrm>
            <a:off x="3992512" y="4005418"/>
            <a:ext cx="1307692" cy="35396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main.obj </a:t>
            </a:r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2B5201DD-8647-5568-6624-6593DC27C515}"/>
              </a:ext>
            </a:extLst>
          </p:cNvPr>
          <p:cNvSpPr/>
          <p:nvPr/>
        </p:nvSpPr>
        <p:spPr>
          <a:xfrm>
            <a:off x="5447071" y="4033469"/>
            <a:ext cx="2229462" cy="225917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.lib (static library) = collection of .obj files grouped together</a:t>
            </a:r>
            <a:b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b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Dynamic library = </a:t>
            </a:r>
            <a:b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(.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dll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+ .lib)</a:t>
            </a:r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7BB802B7-19C6-DE08-D012-BB88C4C30890}"/>
              </a:ext>
            </a:extLst>
          </p:cNvPr>
          <p:cNvSpPr/>
          <p:nvPr/>
        </p:nvSpPr>
        <p:spPr>
          <a:xfrm>
            <a:off x="141955" y="5254109"/>
            <a:ext cx="4001730" cy="130769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A .</a:t>
            </a:r>
            <a:r>
              <a:rPr lang="en-US" b="1" dirty="0" err="1">
                <a:latin typeface="Arial" panose="020B0604020202020204" pitchFamily="34" charset="0"/>
                <a:cs typeface="Arial" panose="020B0604020202020204" pitchFamily="34" charset="0"/>
              </a:rPr>
              <a:t>dll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(Dynamic Link Library) is a file that contains compiled code and resources that can be used by multiple programs at runtime.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CE155582-8FE8-E927-DA85-4419A740B805}"/>
              </a:ext>
            </a:extLst>
          </p:cNvPr>
          <p:cNvSpPr/>
          <p:nvPr/>
        </p:nvSpPr>
        <p:spPr>
          <a:xfrm>
            <a:off x="7948761" y="4033469"/>
            <a:ext cx="1307692" cy="35396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main.exe 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5CA2F3BD-8BE5-B022-7662-B106A20ACB3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37124" y="4713333"/>
            <a:ext cx="4012921" cy="20101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9180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bg1">
                <a:lumMod val="95000"/>
              </a:schemeClr>
            </a:gs>
            <a:gs pos="74000">
              <a:schemeClr val="bg1">
                <a:lumMod val="85000"/>
              </a:schemeClr>
            </a:gs>
            <a:gs pos="83000">
              <a:schemeClr val="bg1">
                <a:lumMod val="75000"/>
              </a:schemeClr>
            </a:gs>
            <a:gs pos="100000">
              <a:schemeClr val="bg1">
                <a:lumMod val="50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4E5B660-1598-8FC0-B82D-A729729462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165F52-0DA7-0BC0-74C7-61802D9C41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9271" y="99655"/>
            <a:ext cx="10515600" cy="1040888"/>
          </a:xfrm>
        </p:spPr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Processor Chip:</a:t>
            </a:r>
          </a:p>
        </p:txBody>
      </p:sp>
      <p:graphicFrame>
        <p:nvGraphicFramePr>
          <p:cNvPr id="39" name="Table 38">
            <a:extLst>
              <a:ext uri="{FF2B5EF4-FFF2-40B4-BE49-F238E27FC236}">
                <a16:creationId xmlns:a16="http://schemas.microsoft.com/office/drawing/2014/main" id="{0D09311B-DA39-0D1D-6449-A36BD14BAFD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20942589"/>
              </p:ext>
            </p:extLst>
          </p:nvPr>
        </p:nvGraphicFramePr>
        <p:xfrm>
          <a:off x="1351852" y="1140543"/>
          <a:ext cx="1391343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91343">
                  <a:extLst>
                    <a:ext uri="{9D8B030D-6E8A-4147-A177-3AD203B41FA5}">
                      <a16:colId xmlns:a16="http://schemas.microsoft.com/office/drawing/2014/main" val="2175922154"/>
                    </a:ext>
                  </a:extLst>
                </a:gridCol>
              </a:tblGrid>
              <a:tr h="26462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RAM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72978498"/>
                  </a:ext>
                </a:extLst>
              </a:tr>
              <a:tr h="264620"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18697262"/>
                  </a:ext>
                </a:extLst>
              </a:tr>
              <a:tr h="26462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21275899"/>
                  </a:ext>
                </a:extLst>
              </a:tr>
              <a:tr h="26462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21890574"/>
                  </a:ext>
                </a:extLst>
              </a:tr>
            </a:tbl>
          </a:graphicData>
        </a:graphic>
      </p:graphicFrame>
      <p:sp>
        <p:nvSpPr>
          <p:cNvPr id="40" name="Rectangle 39">
            <a:extLst>
              <a:ext uri="{FF2B5EF4-FFF2-40B4-BE49-F238E27FC236}">
                <a16:creationId xmlns:a16="http://schemas.microsoft.com/office/drawing/2014/main" id="{4FA3C6C5-A95B-0E0D-6675-EC13E621B07E}"/>
              </a:ext>
            </a:extLst>
          </p:cNvPr>
          <p:cNvSpPr/>
          <p:nvPr/>
        </p:nvSpPr>
        <p:spPr>
          <a:xfrm>
            <a:off x="323786" y="3279143"/>
            <a:ext cx="1307691" cy="71775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Loader</a:t>
            </a:r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BFE84841-82AC-A7C9-5091-F12538255361}"/>
              </a:ext>
            </a:extLst>
          </p:cNvPr>
          <p:cNvCxnSpPr>
            <a:cxnSpLocks/>
          </p:cNvCxnSpPr>
          <p:nvPr/>
        </p:nvCxnSpPr>
        <p:spPr>
          <a:xfrm>
            <a:off x="555651" y="2672305"/>
            <a:ext cx="0" cy="56750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D197973F-7782-DBBD-9BC2-CED7A92C7AF6}"/>
              </a:ext>
            </a:extLst>
          </p:cNvPr>
          <p:cNvCxnSpPr>
            <a:cxnSpLocks/>
          </p:cNvCxnSpPr>
          <p:nvPr/>
        </p:nvCxnSpPr>
        <p:spPr>
          <a:xfrm flipV="1">
            <a:off x="1538689" y="2598002"/>
            <a:ext cx="0" cy="64181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5" name="Rectangle 44">
            <a:extLst>
              <a:ext uri="{FF2B5EF4-FFF2-40B4-BE49-F238E27FC236}">
                <a16:creationId xmlns:a16="http://schemas.microsoft.com/office/drawing/2014/main" id="{F06E08FA-CEB6-7C20-7B61-CB8E1DC30ABB}"/>
              </a:ext>
            </a:extLst>
          </p:cNvPr>
          <p:cNvSpPr/>
          <p:nvPr/>
        </p:nvSpPr>
        <p:spPr>
          <a:xfrm>
            <a:off x="2168843" y="3285594"/>
            <a:ext cx="1124964" cy="64181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CPU</a:t>
            </a:r>
          </a:p>
        </p:txBody>
      </p: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7EB2308F-FE4E-1131-C360-9CDF9374F916}"/>
              </a:ext>
            </a:extLst>
          </p:cNvPr>
          <p:cNvCxnSpPr>
            <a:cxnSpLocks/>
          </p:cNvCxnSpPr>
          <p:nvPr/>
        </p:nvCxnSpPr>
        <p:spPr>
          <a:xfrm flipV="1">
            <a:off x="2610405" y="2598002"/>
            <a:ext cx="0" cy="64181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2" name="Rectangle 51">
            <a:extLst>
              <a:ext uri="{FF2B5EF4-FFF2-40B4-BE49-F238E27FC236}">
                <a16:creationId xmlns:a16="http://schemas.microsoft.com/office/drawing/2014/main" id="{BD5FA93F-6C70-445E-157B-2A7F87EDCD40}"/>
              </a:ext>
            </a:extLst>
          </p:cNvPr>
          <p:cNvSpPr/>
          <p:nvPr/>
        </p:nvSpPr>
        <p:spPr>
          <a:xfrm>
            <a:off x="323785" y="4085480"/>
            <a:ext cx="1307692" cy="35396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main.exe </a:t>
            </a:r>
          </a:p>
        </p:txBody>
      </p:sp>
      <p:grpSp>
        <p:nvGrpSpPr>
          <p:cNvPr id="35" name="Graphic 2" descr="Database with solid fill">
            <a:extLst>
              <a:ext uri="{FF2B5EF4-FFF2-40B4-BE49-F238E27FC236}">
                <a16:creationId xmlns:a16="http://schemas.microsoft.com/office/drawing/2014/main" id="{0C7A10D0-1208-9E65-24D3-D777B8524AF1}"/>
              </a:ext>
            </a:extLst>
          </p:cNvPr>
          <p:cNvGrpSpPr/>
          <p:nvPr/>
        </p:nvGrpSpPr>
        <p:grpSpPr>
          <a:xfrm>
            <a:off x="286800" y="1846550"/>
            <a:ext cx="537700" cy="729737"/>
            <a:chOff x="286800" y="1846550"/>
            <a:chExt cx="537700" cy="729737"/>
          </a:xfrm>
          <a:solidFill>
            <a:schemeClr val="tx1"/>
          </a:solidFill>
        </p:grpSpPr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6994A602-9657-162B-DA6D-5C48164DCF76}"/>
                </a:ext>
              </a:extLst>
            </p:cNvPr>
            <p:cNvSpPr/>
            <p:nvPr/>
          </p:nvSpPr>
          <p:spPr>
            <a:xfrm>
              <a:off x="286800" y="1846550"/>
              <a:ext cx="537700" cy="153628"/>
            </a:xfrm>
            <a:prstGeom prst="ellipse">
              <a:avLst/>
            </a:pr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6578F56E-B6FA-1749-BE0A-71A3C078A00B}"/>
                </a:ext>
              </a:extLst>
            </p:cNvPr>
            <p:cNvSpPr/>
            <p:nvPr/>
          </p:nvSpPr>
          <p:spPr>
            <a:xfrm>
              <a:off x="286800" y="1961772"/>
              <a:ext cx="537700" cy="230443"/>
            </a:xfrm>
            <a:custGeom>
              <a:avLst/>
              <a:gdLst>
                <a:gd name="csX0" fmla="*/ 460886 w 537700"/>
                <a:gd name="csY0" fmla="*/ 153629 h 230443"/>
                <a:gd name="csX1" fmla="*/ 441682 w 537700"/>
                <a:gd name="csY1" fmla="*/ 134425 h 230443"/>
                <a:gd name="csX2" fmla="*/ 460886 w 537700"/>
                <a:gd name="csY2" fmla="*/ 115222 h 230443"/>
                <a:gd name="csX3" fmla="*/ 480090 w 537700"/>
                <a:gd name="csY3" fmla="*/ 134425 h 230443"/>
                <a:gd name="csX4" fmla="*/ 460886 w 537700"/>
                <a:gd name="csY4" fmla="*/ 153629 h 230443"/>
                <a:gd name="csX5" fmla="*/ 268850 w 537700"/>
                <a:gd name="csY5" fmla="*/ 76814 h 230443"/>
                <a:gd name="csX6" fmla="*/ 0 w 537700"/>
                <a:gd name="csY6" fmla="*/ 0 h 230443"/>
                <a:gd name="csX7" fmla="*/ 0 w 537700"/>
                <a:gd name="csY7" fmla="*/ 153629 h 230443"/>
                <a:gd name="csX8" fmla="*/ 268850 w 537700"/>
                <a:gd name="csY8" fmla="*/ 230443 h 230443"/>
                <a:gd name="csX9" fmla="*/ 537700 w 537700"/>
                <a:gd name="csY9" fmla="*/ 153629 h 230443"/>
                <a:gd name="csX10" fmla="*/ 537700 w 537700"/>
                <a:gd name="csY10" fmla="*/ 0 h 230443"/>
                <a:gd name="csX11" fmla="*/ 268850 w 537700"/>
                <a:gd name="csY11" fmla="*/ 76814 h 23044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</a:cxnLst>
              <a:rect l="l" t="t" r="r" b="b"/>
              <a:pathLst>
                <a:path w="537700" h="230443">
                  <a:moveTo>
                    <a:pt x="460886" y="153629"/>
                  </a:moveTo>
                  <a:cubicBezTo>
                    <a:pt x="449364" y="153629"/>
                    <a:pt x="441682" y="145947"/>
                    <a:pt x="441682" y="134425"/>
                  </a:cubicBezTo>
                  <a:cubicBezTo>
                    <a:pt x="441682" y="122903"/>
                    <a:pt x="449364" y="115222"/>
                    <a:pt x="460886" y="115222"/>
                  </a:cubicBezTo>
                  <a:cubicBezTo>
                    <a:pt x="472408" y="115222"/>
                    <a:pt x="480090" y="122903"/>
                    <a:pt x="480090" y="134425"/>
                  </a:cubicBezTo>
                  <a:cubicBezTo>
                    <a:pt x="480090" y="145947"/>
                    <a:pt x="472408" y="153629"/>
                    <a:pt x="460886" y="153629"/>
                  </a:cubicBezTo>
                  <a:close/>
                  <a:moveTo>
                    <a:pt x="268850" y="76814"/>
                  </a:moveTo>
                  <a:cubicBezTo>
                    <a:pt x="120983" y="76814"/>
                    <a:pt x="0" y="42248"/>
                    <a:pt x="0" y="0"/>
                  </a:cubicBezTo>
                  <a:lnTo>
                    <a:pt x="0" y="153629"/>
                  </a:lnTo>
                  <a:cubicBezTo>
                    <a:pt x="0" y="195877"/>
                    <a:pt x="120983" y="230443"/>
                    <a:pt x="268850" y="230443"/>
                  </a:cubicBezTo>
                  <a:cubicBezTo>
                    <a:pt x="416718" y="230443"/>
                    <a:pt x="537700" y="195877"/>
                    <a:pt x="537700" y="153629"/>
                  </a:cubicBezTo>
                  <a:lnTo>
                    <a:pt x="537700" y="0"/>
                  </a:lnTo>
                  <a:cubicBezTo>
                    <a:pt x="537700" y="42248"/>
                    <a:pt x="416718" y="76814"/>
                    <a:pt x="268850" y="76814"/>
                  </a:cubicBez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2C889A6F-0EE2-CBBB-A1A2-5971DB2E6E20}"/>
                </a:ext>
              </a:extLst>
            </p:cNvPr>
            <p:cNvSpPr/>
            <p:nvPr/>
          </p:nvSpPr>
          <p:spPr>
            <a:xfrm>
              <a:off x="286800" y="2153808"/>
              <a:ext cx="537700" cy="230443"/>
            </a:xfrm>
            <a:custGeom>
              <a:avLst/>
              <a:gdLst>
                <a:gd name="csX0" fmla="*/ 460886 w 537700"/>
                <a:gd name="csY0" fmla="*/ 153629 h 230443"/>
                <a:gd name="csX1" fmla="*/ 441682 w 537700"/>
                <a:gd name="csY1" fmla="*/ 134425 h 230443"/>
                <a:gd name="csX2" fmla="*/ 460886 w 537700"/>
                <a:gd name="csY2" fmla="*/ 115222 h 230443"/>
                <a:gd name="csX3" fmla="*/ 480090 w 537700"/>
                <a:gd name="csY3" fmla="*/ 134425 h 230443"/>
                <a:gd name="csX4" fmla="*/ 460886 w 537700"/>
                <a:gd name="csY4" fmla="*/ 153629 h 230443"/>
                <a:gd name="csX5" fmla="*/ 268850 w 537700"/>
                <a:gd name="csY5" fmla="*/ 76814 h 230443"/>
                <a:gd name="csX6" fmla="*/ 0 w 537700"/>
                <a:gd name="csY6" fmla="*/ 0 h 230443"/>
                <a:gd name="csX7" fmla="*/ 0 w 537700"/>
                <a:gd name="csY7" fmla="*/ 153629 h 230443"/>
                <a:gd name="csX8" fmla="*/ 268850 w 537700"/>
                <a:gd name="csY8" fmla="*/ 230443 h 230443"/>
                <a:gd name="csX9" fmla="*/ 537700 w 537700"/>
                <a:gd name="csY9" fmla="*/ 153629 h 230443"/>
                <a:gd name="csX10" fmla="*/ 537700 w 537700"/>
                <a:gd name="csY10" fmla="*/ 0 h 230443"/>
                <a:gd name="csX11" fmla="*/ 268850 w 537700"/>
                <a:gd name="csY11" fmla="*/ 76814 h 23044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</a:cxnLst>
              <a:rect l="l" t="t" r="r" b="b"/>
              <a:pathLst>
                <a:path w="537700" h="230443">
                  <a:moveTo>
                    <a:pt x="460886" y="153629"/>
                  </a:moveTo>
                  <a:cubicBezTo>
                    <a:pt x="449364" y="153629"/>
                    <a:pt x="441682" y="145947"/>
                    <a:pt x="441682" y="134425"/>
                  </a:cubicBezTo>
                  <a:cubicBezTo>
                    <a:pt x="441682" y="122903"/>
                    <a:pt x="449364" y="115222"/>
                    <a:pt x="460886" y="115222"/>
                  </a:cubicBezTo>
                  <a:cubicBezTo>
                    <a:pt x="472408" y="115222"/>
                    <a:pt x="480090" y="122903"/>
                    <a:pt x="480090" y="134425"/>
                  </a:cubicBezTo>
                  <a:cubicBezTo>
                    <a:pt x="480090" y="145947"/>
                    <a:pt x="472408" y="153629"/>
                    <a:pt x="460886" y="153629"/>
                  </a:cubicBezTo>
                  <a:close/>
                  <a:moveTo>
                    <a:pt x="268850" y="76814"/>
                  </a:moveTo>
                  <a:cubicBezTo>
                    <a:pt x="120983" y="76814"/>
                    <a:pt x="0" y="42248"/>
                    <a:pt x="0" y="0"/>
                  </a:cubicBezTo>
                  <a:lnTo>
                    <a:pt x="0" y="153629"/>
                  </a:lnTo>
                  <a:cubicBezTo>
                    <a:pt x="0" y="195877"/>
                    <a:pt x="120983" y="230443"/>
                    <a:pt x="268850" y="230443"/>
                  </a:cubicBezTo>
                  <a:cubicBezTo>
                    <a:pt x="416718" y="230443"/>
                    <a:pt x="537700" y="195877"/>
                    <a:pt x="537700" y="153629"/>
                  </a:cubicBezTo>
                  <a:lnTo>
                    <a:pt x="537700" y="0"/>
                  </a:lnTo>
                  <a:cubicBezTo>
                    <a:pt x="537700" y="42248"/>
                    <a:pt x="416718" y="76814"/>
                    <a:pt x="268850" y="76814"/>
                  </a:cubicBez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067CC08E-1DE2-0A1C-3C18-88FEC9FAD7C7}"/>
                </a:ext>
              </a:extLst>
            </p:cNvPr>
            <p:cNvSpPr/>
            <p:nvPr/>
          </p:nvSpPr>
          <p:spPr>
            <a:xfrm>
              <a:off x="286800" y="2345844"/>
              <a:ext cx="537700" cy="230443"/>
            </a:xfrm>
            <a:custGeom>
              <a:avLst/>
              <a:gdLst>
                <a:gd name="csX0" fmla="*/ 460886 w 537700"/>
                <a:gd name="csY0" fmla="*/ 153629 h 230443"/>
                <a:gd name="csX1" fmla="*/ 441682 w 537700"/>
                <a:gd name="csY1" fmla="*/ 134425 h 230443"/>
                <a:gd name="csX2" fmla="*/ 460886 w 537700"/>
                <a:gd name="csY2" fmla="*/ 115222 h 230443"/>
                <a:gd name="csX3" fmla="*/ 480090 w 537700"/>
                <a:gd name="csY3" fmla="*/ 134425 h 230443"/>
                <a:gd name="csX4" fmla="*/ 460886 w 537700"/>
                <a:gd name="csY4" fmla="*/ 153629 h 230443"/>
                <a:gd name="csX5" fmla="*/ 268850 w 537700"/>
                <a:gd name="csY5" fmla="*/ 76814 h 230443"/>
                <a:gd name="csX6" fmla="*/ 0 w 537700"/>
                <a:gd name="csY6" fmla="*/ 0 h 230443"/>
                <a:gd name="csX7" fmla="*/ 0 w 537700"/>
                <a:gd name="csY7" fmla="*/ 153629 h 230443"/>
                <a:gd name="csX8" fmla="*/ 268850 w 537700"/>
                <a:gd name="csY8" fmla="*/ 230443 h 230443"/>
                <a:gd name="csX9" fmla="*/ 537700 w 537700"/>
                <a:gd name="csY9" fmla="*/ 153629 h 230443"/>
                <a:gd name="csX10" fmla="*/ 537700 w 537700"/>
                <a:gd name="csY10" fmla="*/ 0 h 230443"/>
                <a:gd name="csX11" fmla="*/ 268850 w 537700"/>
                <a:gd name="csY11" fmla="*/ 76814 h 23044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</a:cxnLst>
              <a:rect l="l" t="t" r="r" b="b"/>
              <a:pathLst>
                <a:path w="537700" h="230443">
                  <a:moveTo>
                    <a:pt x="460886" y="153629"/>
                  </a:moveTo>
                  <a:cubicBezTo>
                    <a:pt x="449364" y="153629"/>
                    <a:pt x="441682" y="145947"/>
                    <a:pt x="441682" y="134425"/>
                  </a:cubicBezTo>
                  <a:cubicBezTo>
                    <a:pt x="441682" y="122903"/>
                    <a:pt x="449364" y="115222"/>
                    <a:pt x="460886" y="115222"/>
                  </a:cubicBezTo>
                  <a:cubicBezTo>
                    <a:pt x="472408" y="115222"/>
                    <a:pt x="480090" y="122903"/>
                    <a:pt x="480090" y="134425"/>
                  </a:cubicBezTo>
                  <a:cubicBezTo>
                    <a:pt x="480090" y="145947"/>
                    <a:pt x="472408" y="153629"/>
                    <a:pt x="460886" y="153629"/>
                  </a:cubicBezTo>
                  <a:close/>
                  <a:moveTo>
                    <a:pt x="268850" y="76814"/>
                  </a:moveTo>
                  <a:cubicBezTo>
                    <a:pt x="120983" y="76814"/>
                    <a:pt x="0" y="42248"/>
                    <a:pt x="0" y="0"/>
                  </a:cubicBezTo>
                  <a:lnTo>
                    <a:pt x="0" y="153629"/>
                  </a:lnTo>
                  <a:cubicBezTo>
                    <a:pt x="0" y="195877"/>
                    <a:pt x="120983" y="230443"/>
                    <a:pt x="268850" y="230443"/>
                  </a:cubicBezTo>
                  <a:cubicBezTo>
                    <a:pt x="416718" y="230443"/>
                    <a:pt x="537700" y="195877"/>
                    <a:pt x="537700" y="153629"/>
                  </a:cubicBezTo>
                  <a:lnTo>
                    <a:pt x="537700" y="0"/>
                  </a:lnTo>
                  <a:cubicBezTo>
                    <a:pt x="537700" y="42248"/>
                    <a:pt x="416718" y="76814"/>
                    <a:pt x="268850" y="76814"/>
                  </a:cubicBezTo>
                  <a:close/>
                </a:path>
              </a:pathLst>
            </a:custGeom>
            <a:solidFill>
              <a:schemeClr val="tx1"/>
            </a:solidFill>
            <a:ln w="9525" cap="flat">
              <a:noFill/>
              <a:prstDash val="solid"/>
              <a:miter/>
            </a:ln>
          </p:spPr>
          <p:txBody>
            <a:bodyPr/>
            <a:lstStyle/>
            <a:p>
              <a:endParaRPr lang="en-US"/>
            </a:p>
          </p:txBody>
        </p: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DA421BE0-8DEE-57BC-E024-300932B89E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2222" y="282919"/>
            <a:ext cx="5685013" cy="4987172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1CF4C595-343A-54F3-E23E-51E7B4AE7F94}"/>
              </a:ext>
            </a:extLst>
          </p:cNvPr>
          <p:cNvSpPr/>
          <p:nvPr/>
        </p:nvSpPr>
        <p:spPr>
          <a:xfrm>
            <a:off x="6769863" y="1238865"/>
            <a:ext cx="954904" cy="64845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CPU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A9A213C-8994-584E-5CDE-D89D39508374}"/>
              </a:ext>
            </a:extLst>
          </p:cNvPr>
          <p:cNvSpPr/>
          <p:nvPr/>
        </p:nvSpPr>
        <p:spPr>
          <a:xfrm>
            <a:off x="7856327" y="1238865"/>
            <a:ext cx="954904" cy="64845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CPU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CC5244C-76CE-0313-EB56-CABA2B60AD71}"/>
              </a:ext>
            </a:extLst>
          </p:cNvPr>
          <p:cNvSpPr/>
          <p:nvPr/>
        </p:nvSpPr>
        <p:spPr>
          <a:xfrm>
            <a:off x="9713215" y="1238865"/>
            <a:ext cx="954904" cy="64845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CPU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C68DD38-A64D-E3F8-3296-A8A74178F49E}"/>
              </a:ext>
            </a:extLst>
          </p:cNvPr>
          <p:cNvSpPr/>
          <p:nvPr/>
        </p:nvSpPr>
        <p:spPr>
          <a:xfrm>
            <a:off x="10730659" y="1238864"/>
            <a:ext cx="954904" cy="64845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CPU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6BC70F56-417D-AF0F-9656-658D61B0A2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79187" y="4040628"/>
            <a:ext cx="4285325" cy="26884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43251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" grpId="0" animBg="1"/>
      <p:bldP spid="45" grpId="0" animBg="1"/>
      <p:bldP spid="52" grpId="0" animBg="1"/>
      <p:bldP spid="10" grpId="0" animBg="1"/>
      <p:bldP spid="13" grpId="0" animBg="1"/>
      <p:bldP spid="21" grpId="0" animBg="1"/>
      <p:bldP spid="22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5AE4B8DE-F3B7-B003-7A46-254CCBBC100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40197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bg1">
                <a:lumMod val="95000"/>
              </a:schemeClr>
            </a:gs>
            <a:gs pos="74000">
              <a:schemeClr val="bg1">
                <a:lumMod val="85000"/>
              </a:schemeClr>
            </a:gs>
            <a:gs pos="83000">
              <a:schemeClr val="bg1">
                <a:lumMod val="75000"/>
              </a:schemeClr>
            </a:gs>
            <a:gs pos="100000">
              <a:schemeClr val="bg1">
                <a:lumMod val="50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F7C9059-B2CA-526B-2936-0D432CC649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2EEA95-9A16-A664-7D6B-29B432D3D2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45" y="35221"/>
            <a:ext cx="11996331" cy="1325563"/>
          </a:xfrm>
        </p:spPr>
        <p:txBody>
          <a:bodyPr>
            <a:norm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Go lang:</a:t>
            </a:r>
            <a:endParaRPr lang="en-US" sz="4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B29637F-BC36-9142-0565-ACAB7FCF5361}"/>
              </a:ext>
            </a:extLst>
          </p:cNvPr>
          <p:cNvSpPr/>
          <p:nvPr/>
        </p:nvSpPr>
        <p:spPr>
          <a:xfrm>
            <a:off x="186323" y="1518107"/>
            <a:ext cx="111760" cy="767894"/>
          </a:xfrm>
          <a:prstGeom prst="rect">
            <a:avLst/>
          </a:prstGeom>
          <a:solidFill>
            <a:schemeClr val="tx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C642708-CA97-A791-D511-60657B12588C}"/>
              </a:ext>
            </a:extLst>
          </p:cNvPr>
          <p:cNvSpPr/>
          <p:nvPr/>
        </p:nvSpPr>
        <p:spPr>
          <a:xfrm>
            <a:off x="262522" y="1518107"/>
            <a:ext cx="11743155" cy="767894"/>
          </a:xfrm>
          <a:prstGeom prst="rect">
            <a:avLst/>
          </a:prstGeom>
          <a:solidFill>
            <a:schemeClr val="tx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/>
            <a:r>
              <a:rPr lang="en-US" b="1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Go is an open-source programming language that makes it easy to build simple, reliable,</a:t>
            </a:r>
          </a:p>
          <a:p>
            <a:pPr lvl="0"/>
            <a:r>
              <a:rPr lang="en-US" b="1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and efficient software.</a:t>
            </a: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20CB0D6-1DC6-FB6F-F1CD-6080742FFFA4}"/>
              </a:ext>
            </a:extLst>
          </p:cNvPr>
          <p:cNvSpPr/>
          <p:nvPr/>
        </p:nvSpPr>
        <p:spPr>
          <a:xfrm>
            <a:off x="186323" y="2443324"/>
            <a:ext cx="111760" cy="767894"/>
          </a:xfrm>
          <a:prstGeom prst="rect">
            <a:avLst/>
          </a:prstGeom>
          <a:solidFill>
            <a:schemeClr val="tx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BC4865E-EAC0-FDCA-5171-359D20D21B53}"/>
              </a:ext>
            </a:extLst>
          </p:cNvPr>
          <p:cNvSpPr/>
          <p:nvPr/>
        </p:nvSpPr>
        <p:spPr>
          <a:xfrm>
            <a:off x="262522" y="2443324"/>
            <a:ext cx="11743155" cy="767894"/>
          </a:xfrm>
          <a:prstGeom prst="rect">
            <a:avLst/>
          </a:prstGeom>
          <a:solidFill>
            <a:schemeClr val="tx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/>
            <a:r>
              <a:rPr lang="en-US" b="1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goals of the language and its accompanying tools were to be expressive, efficient in both compilation and execution, and effective in writing reliable and robust programs.</a:t>
            </a: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927F158-77B7-08D8-8767-766748AA5CB0}"/>
              </a:ext>
            </a:extLst>
          </p:cNvPr>
          <p:cNvSpPr/>
          <p:nvPr/>
        </p:nvSpPr>
        <p:spPr>
          <a:xfrm>
            <a:off x="186323" y="3368541"/>
            <a:ext cx="111760" cy="767894"/>
          </a:xfrm>
          <a:prstGeom prst="rect">
            <a:avLst/>
          </a:prstGeom>
          <a:solidFill>
            <a:schemeClr val="tx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F6EFD4FB-3E58-9B00-F78A-92CF1E001C6B}"/>
              </a:ext>
            </a:extLst>
          </p:cNvPr>
          <p:cNvSpPr/>
          <p:nvPr/>
        </p:nvSpPr>
        <p:spPr>
          <a:xfrm>
            <a:off x="262522" y="3368541"/>
            <a:ext cx="11743155" cy="767894"/>
          </a:xfrm>
          <a:prstGeom prst="rect">
            <a:avLst/>
          </a:prstGeom>
          <a:solidFill>
            <a:schemeClr val="tx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/>
            <a:r>
              <a:rPr lang="en-US" b="1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It borrows and adapts good ideas from many other languages, while avoiding features that have led to complexity and unreliable code.</a:t>
            </a: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AA350D1-1CB7-29AF-E45F-1FBC425E260B}"/>
              </a:ext>
            </a:extLst>
          </p:cNvPr>
          <p:cNvSpPr/>
          <p:nvPr/>
        </p:nvSpPr>
        <p:spPr>
          <a:xfrm>
            <a:off x="186323" y="4293758"/>
            <a:ext cx="111760" cy="767894"/>
          </a:xfrm>
          <a:prstGeom prst="rect">
            <a:avLst/>
          </a:prstGeom>
          <a:solidFill>
            <a:schemeClr val="tx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B45C54E6-11CD-5A25-E069-BBC93269262A}"/>
              </a:ext>
            </a:extLst>
          </p:cNvPr>
          <p:cNvSpPr/>
          <p:nvPr/>
        </p:nvSpPr>
        <p:spPr>
          <a:xfrm>
            <a:off x="262522" y="4293758"/>
            <a:ext cx="11743155" cy="767894"/>
          </a:xfrm>
          <a:prstGeom prst="rect">
            <a:avLst/>
          </a:prstGeom>
          <a:solidFill>
            <a:schemeClr val="tx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/>
            <a:r>
              <a:rPr lang="en-US" b="1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Its facilities for concurrency are new and efficient, and its approach to data abstraction and object-oriented programming is unusually flexible.</a:t>
            </a: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091E1CF-0670-9F88-9ACB-C4862ADC95D3}"/>
              </a:ext>
            </a:extLst>
          </p:cNvPr>
          <p:cNvSpPr/>
          <p:nvPr/>
        </p:nvSpPr>
        <p:spPr>
          <a:xfrm>
            <a:off x="186323" y="5218975"/>
            <a:ext cx="111760" cy="767894"/>
          </a:xfrm>
          <a:prstGeom prst="rect">
            <a:avLst/>
          </a:prstGeom>
          <a:solidFill>
            <a:schemeClr val="tx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CEA1835-5D09-0A1C-C602-46D22D37A505}"/>
              </a:ext>
            </a:extLst>
          </p:cNvPr>
          <p:cNvSpPr/>
          <p:nvPr/>
        </p:nvSpPr>
        <p:spPr>
          <a:xfrm>
            <a:off x="262522" y="5218975"/>
            <a:ext cx="11743155" cy="767894"/>
          </a:xfrm>
          <a:prstGeom prst="rect">
            <a:avLst/>
          </a:prstGeom>
          <a:solidFill>
            <a:schemeClr val="tx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/>
            <a:r>
              <a:rPr lang="en-US" b="1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Go is especially well-suited for building infrastructure like network services, and tools and systems for programmers, but it is truly a general-purpose language and finds use in domains as diverse as graphics, mobile applications, and machine learning</a:t>
            </a: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635965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7460"/>
    </mc:Choice>
    <mc:Fallback xmlns="">
      <p:transition spd="slow" advTm="207460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bg1">
                <a:lumMod val="95000"/>
              </a:schemeClr>
            </a:gs>
            <a:gs pos="74000">
              <a:schemeClr val="bg1">
                <a:lumMod val="85000"/>
              </a:schemeClr>
            </a:gs>
            <a:gs pos="83000">
              <a:schemeClr val="bg1">
                <a:lumMod val="75000"/>
              </a:schemeClr>
            </a:gs>
            <a:gs pos="100000">
              <a:schemeClr val="bg1">
                <a:lumMod val="50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F8F6DAB-6DA3-AC8F-C0D1-A0FC377CC7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FD44BB-4699-28FD-64A9-78450642AA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214519"/>
            <a:ext cx="11996331" cy="1325563"/>
          </a:xfrm>
        </p:spPr>
        <p:txBody>
          <a:bodyPr>
            <a:norm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Go Program Structure:</a:t>
            </a:r>
            <a:endParaRPr lang="en-US" sz="4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37B96EAA-CDCC-7B24-1B9A-2C393F13129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2562"/>
          <a:stretch>
            <a:fillRect/>
          </a:stretch>
        </p:blipFill>
        <p:spPr>
          <a:xfrm>
            <a:off x="1" y="884902"/>
            <a:ext cx="12192000" cy="597309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5B0BB8B7-8D51-1479-217D-F512A97AF39B}"/>
              </a:ext>
            </a:extLst>
          </p:cNvPr>
          <p:cNvSpPr txBox="1"/>
          <p:nvPr/>
        </p:nvSpPr>
        <p:spPr>
          <a:xfrm>
            <a:off x="4769622" y="1111044"/>
            <a:ext cx="722671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This is known as a </a:t>
            </a:r>
            <a:r>
              <a:rPr lang="en-US" b="1" i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package declaration</a:t>
            </a:r>
            <a:r>
              <a:rPr lang="en-US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and every Go program must start with it. Now we have an executable file…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0821450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7460"/>
    </mc:Choice>
    <mc:Fallback xmlns="">
      <p:transition spd="slow" advTm="207460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bg1">
                <a:lumMod val="95000"/>
              </a:schemeClr>
            </a:gs>
            <a:gs pos="74000">
              <a:schemeClr val="bg1">
                <a:lumMod val="85000"/>
              </a:schemeClr>
            </a:gs>
            <a:gs pos="83000">
              <a:schemeClr val="bg1">
                <a:lumMod val="75000"/>
              </a:schemeClr>
            </a:gs>
            <a:gs pos="100000">
              <a:schemeClr val="bg1">
                <a:lumMod val="50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0F98D58-E36F-E614-3F05-039CC54555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608DB6-852D-F2E8-C50C-ED90050717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834" y="0"/>
            <a:ext cx="11996331" cy="1325563"/>
          </a:xfrm>
        </p:spPr>
        <p:txBody>
          <a:bodyPr>
            <a:norm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Go Data Types:</a:t>
            </a:r>
            <a:endParaRPr lang="en-US" sz="4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DD3A645-DF96-0EDC-BA3A-19BD4BA097C5}"/>
              </a:ext>
            </a:extLst>
          </p:cNvPr>
          <p:cNvSpPr/>
          <p:nvPr/>
        </p:nvSpPr>
        <p:spPr>
          <a:xfrm>
            <a:off x="274811" y="1193642"/>
            <a:ext cx="111760" cy="823323"/>
          </a:xfrm>
          <a:prstGeom prst="rect">
            <a:avLst/>
          </a:prstGeom>
          <a:solidFill>
            <a:schemeClr val="tx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984CE22-2303-0BB3-C1D3-58B64833CA83}"/>
              </a:ext>
            </a:extLst>
          </p:cNvPr>
          <p:cNvSpPr/>
          <p:nvPr/>
        </p:nvSpPr>
        <p:spPr>
          <a:xfrm>
            <a:off x="351010" y="1193642"/>
            <a:ext cx="11743155" cy="823323"/>
          </a:xfrm>
          <a:prstGeom prst="rect">
            <a:avLst/>
          </a:prstGeom>
          <a:solidFill>
            <a:schemeClr val="tx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/>
            <a:r>
              <a:rPr lang="en-US" b="1" dirty="0">
                <a:solidFill>
                  <a:prstClr val="white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Data types categorize a set of related values, describe the operations that can be done on them, and define the way they are stored. </a:t>
            </a:r>
            <a:endParaRPr kumimoji="0" lang="en-US" sz="18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5DC44964-9657-E377-07FC-340F941BD4C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3895" y="2038558"/>
            <a:ext cx="10481187" cy="4819442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6404439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7460"/>
    </mc:Choice>
    <mc:Fallback xmlns="">
      <p:transition spd="slow" advTm="207460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bg1">
                <a:lumMod val="95000"/>
              </a:schemeClr>
            </a:gs>
            <a:gs pos="74000">
              <a:schemeClr val="bg1">
                <a:lumMod val="85000"/>
              </a:schemeClr>
            </a:gs>
            <a:gs pos="83000">
              <a:schemeClr val="bg1">
                <a:lumMod val="75000"/>
              </a:schemeClr>
            </a:gs>
            <a:gs pos="100000">
              <a:schemeClr val="bg1">
                <a:lumMod val="50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CF031D6-DD85-B0B2-BFC4-7326681EF6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5E8603-E89A-D461-3995-5C2167AF36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834" y="0"/>
            <a:ext cx="11996331" cy="1325563"/>
          </a:xfrm>
        </p:spPr>
        <p:txBody>
          <a:bodyPr>
            <a:norm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Go Control Structures:</a:t>
            </a:r>
            <a:endParaRPr lang="en-US" sz="4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D260E8B-4A80-B2D8-57C3-3E6BD355470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834" y="1168246"/>
            <a:ext cx="5073934" cy="277448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1A771AC-6B66-86AF-4F81-E61BC15CAC5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834" y="4083513"/>
            <a:ext cx="5073934" cy="2774488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6DB2EBA-9018-008F-56EE-F5A9EC3EF38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88803" y="1168245"/>
            <a:ext cx="5587120" cy="5124399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6400500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7460"/>
    </mc:Choice>
    <mc:Fallback xmlns="">
      <p:transition spd="slow" advTm="207460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bg1">
                <a:lumMod val="95000"/>
              </a:schemeClr>
            </a:gs>
            <a:gs pos="74000">
              <a:schemeClr val="bg1">
                <a:lumMod val="85000"/>
              </a:schemeClr>
            </a:gs>
            <a:gs pos="83000">
              <a:schemeClr val="bg1">
                <a:lumMod val="75000"/>
              </a:schemeClr>
            </a:gs>
            <a:gs pos="100000">
              <a:schemeClr val="bg1">
                <a:lumMod val="50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CC099B2-0F57-AFB1-FF5C-65C7283EFC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5EB42D-5617-8BCF-7AD0-07411CB7D1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834" y="0"/>
            <a:ext cx="11996331" cy="1325563"/>
          </a:xfrm>
        </p:spPr>
        <p:txBody>
          <a:bodyPr>
            <a:norm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Go Arrays:</a:t>
            </a:r>
            <a:endParaRPr lang="en-US" sz="4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20EDB7C-CAEB-EF6C-77CC-290BF73DBE4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834" y="1078026"/>
            <a:ext cx="11996331" cy="5706232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0367498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7460"/>
    </mc:Choice>
    <mc:Fallback xmlns="">
      <p:transition spd="slow" advTm="207460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chemeClr val="bg1">
                <a:lumMod val="95000"/>
              </a:schemeClr>
            </a:gs>
            <a:gs pos="74000">
              <a:schemeClr val="bg1">
                <a:lumMod val="85000"/>
              </a:schemeClr>
            </a:gs>
            <a:gs pos="83000">
              <a:schemeClr val="bg1">
                <a:lumMod val="75000"/>
              </a:schemeClr>
            </a:gs>
            <a:gs pos="100000">
              <a:schemeClr val="bg1">
                <a:lumMod val="50000"/>
              </a:schemeClr>
            </a:gs>
          </a:gsLst>
          <a:lin ang="5400000" scaled="1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ED66D15-2C2F-F663-4706-2A6CFF59A4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15F651-550B-7D33-E1EB-48E077417E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45" y="35221"/>
            <a:ext cx="11996331" cy="1325563"/>
          </a:xfrm>
        </p:spPr>
        <p:txBody>
          <a:bodyPr>
            <a:norm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Exercises:</a:t>
            </a:r>
            <a:endParaRPr lang="en-US" sz="4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68A2883-2B8B-0C48-D824-F205BA762213}"/>
              </a:ext>
            </a:extLst>
          </p:cNvPr>
          <p:cNvSpPr/>
          <p:nvPr/>
        </p:nvSpPr>
        <p:spPr>
          <a:xfrm>
            <a:off x="110125" y="1114984"/>
            <a:ext cx="111760" cy="2100165"/>
          </a:xfrm>
          <a:prstGeom prst="rect">
            <a:avLst/>
          </a:prstGeom>
          <a:solidFill>
            <a:schemeClr val="tx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DC70F5D-2F9A-B21C-BD31-CE08E21CCF39}"/>
              </a:ext>
            </a:extLst>
          </p:cNvPr>
          <p:cNvSpPr/>
          <p:nvPr/>
        </p:nvSpPr>
        <p:spPr>
          <a:xfrm>
            <a:off x="186324" y="1114984"/>
            <a:ext cx="11743155" cy="2100165"/>
          </a:xfrm>
          <a:prstGeom prst="rect">
            <a:avLst/>
          </a:prstGeom>
          <a:solidFill>
            <a:schemeClr val="tx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i="1" dirty="0">
                <a:latin typeface="Arial" panose="020B0604020202020204" pitchFamily="34" charset="0"/>
                <a:cs typeface="Arial" panose="020B0604020202020204" pitchFamily="34" charset="0"/>
              </a:rPr>
              <a:t>Problem: Implement an in‑place array rotation by k positions to the right (e.g., [1,2,3,4,5] rotated by 2 becomes [4,5,1,2,3]).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b="1" i="1" dirty="0">
                <a:latin typeface="Arial" panose="020B0604020202020204" pitchFamily="34" charset="0"/>
                <a:cs typeface="Arial" panose="020B0604020202020204" pitchFamily="34" charset="0"/>
              </a:rPr>
              <a:t>Handle k &gt; </a:t>
            </a:r>
            <a:r>
              <a:rPr lang="en-US" b="1" i="1" dirty="0" err="1">
                <a:latin typeface="Arial" panose="020B0604020202020204" pitchFamily="34" charset="0"/>
                <a:cs typeface="Arial" panose="020B0604020202020204" pitchFamily="34" charset="0"/>
              </a:rPr>
              <a:t>len</a:t>
            </a:r>
            <a:r>
              <a:rPr lang="en-US" b="1" i="1" dirty="0">
                <a:latin typeface="Arial" panose="020B0604020202020204" pitchFamily="34" charset="0"/>
                <a:cs typeface="Arial" panose="020B0604020202020204" pitchFamily="34" charset="0"/>
              </a:rPr>
              <a:t>(</a:t>
            </a:r>
            <a:r>
              <a:rPr lang="en-US" b="1" i="1" dirty="0" err="1">
                <a:latin typeface="Arial" panose="020B0604020202020204" pitchFamily="34" charset="0"/>
                <a:cs typeface="Arial" panose="020B0604020202020204" pitchFamily="34" charset="0"/>
              </a:rPr>
              <a:t>arr</a:t>
            </a:r>
            <a:r>
              <a:rPr lang="en-US" b="1" i="1" dirty="0">
                <a:latin typeface="Arial" panose="020B0604020202020204" pitchFamily="34" charset="0"/>
                <a:cs typeface="Arial" panose="020B0604020202020204" pitchFamily="34" charset="0"/>
              </a:rPr>
              <a:t>) and k &lt; 0.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b="1" i="1" dirty="0">
                <a:latin typeface="Arial" panose="020B0604020202020204" pitchFamily="34" charset="0"/>
                <a:cs typeface="Arial" panose="020B0604020202020204" pitchFamily="34" charset="0"/>
              </a:rPr>
              <a:t>Input: Array of 10 integers, k from stdin.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b="1" i="1" dirty="0">
                <a:latin typeface="Arial" panose="020B0604020202020204" pitchFamily="34" charset="0"/>
                <a:cs typeface="Arial" panose="020B0604020202020204" pitchFamily="34" charset="0"/>
              </a:rPr>
              <a:t>Output: Rotated array, space‑separated.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b="1" i="1" dirty="0">
                <a:latin typeface="Arial" panose="020B0604020202020204" pitchFamily="34" charset="0"/>
                <a:cs typeface="Arial" panose="020B0604020202020204" pitchFamily="34" charset="0"/>
              </a:rPr>
              <a:t>Example: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b="1" i="1" dirty="0">
                <a:latin typeface="Arial" panose="020B0604020202020204" pitchFamily="34" charset="0"/>
                <a:cs typeface="Arial" panose="020B0604020202020204" pitchFamily="34" charset="0"/>
              </a:rPr>
              <a:t>Input: 1 2 3 4 5 3 ; k=1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b="1" i="1" dirty="0">
                <a:latin typeface="Arial" panose="020B0604020202020204" pitchFamily="34" charset="0"/>
                <a:cs typeface="Arial" panose="020B0604020202020204" pitchFamily="34" charset="0"/>
              </a:rPr>
              <a:t>Output: 3 1 2 3 4 5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8EE8F1D-4954-72BD-DE50-3D8C5FC0907A}"/>
              </a:ext>
            </a:extLst>
          </p:cNvPr>
          <p:cNvSpPr/>
          <p:nvPr/>
        </p:nvSpPr>
        <p:spPr>
          <a:xfrm>
            <a:off x="110125" y="3429000"/>
            <a:ext cx="111760" cy="946355"/>
          </a:xfrm>
          <a:prstGeom prst="rect">
            <a:avLst/>
          </a:prstGeom>
          <a:solidFill>
            <a:schemeClr val="tx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87E3DB0-7D6E-A0DA-6A6D-CDB74C8858AA}"/>
              </a:ext>
            </a:extLst>
          </p:cNvPr>
          <p:cNvSpPr/>
          <p:nvPr/>
        </p:nvSpPr>
        <p:spPr>
          <a:xfrm>
            <a:off x="186324" y="3429000"/>
            <a:ext cx="11743155" cy="946355"/>
          </a:xfrm>
          <a:prstGeom prst="rect">
            <a:avLst/>
          </a:prstGeom>
          <a:solidFill>
            <a:schemeClr val="tx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Find two distinct indices whose values sum to the target. Return indices (smallest first). Assume exactly one solution.</a:t>
            </a:r>
            <a:br>
              <a:rPr lang="en-US" b="1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b="1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Input: Array size, elements, target.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7F27EDB-D40C-D882-A622-5DEA165D0EF5}"/>
              </a:ext>
            </a:extLst>
          </p:cNvPr>
          <p:cNvSpPr/>
          <p:nvPr/>
        </p:nvSpPr>
        <p:spPr>
          <a:xfrm>
            <a:off x="110125" y="4589206"/>
            <a:ext cx="111760" cy="946355"/>
          </a:xfrm>
          <a:prstGeom prst="rect">
            <a:avLst/>
          </a:prstGeom>
          <a:solidFill>
            <a:schemeClr val="tx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17397D4-BFE9-B33E-D3E6-A9F8DCB4E48E}"/>
              </a:ext>
            </a:extLst>
          </p:cNvPr>
          <p:cNvSpPr/>
          <p:nvPr/>
        </p:nvSpPr>
        <p:spPr>
          <a:xfrm>
            <a:off x="186324" y="4589206"/>
            <a:ext cx="11743155" cy="946355"/>
          </a:xfrm>
          <a:prstGeom prst="rect">
            <a:avLst/>
          </a:prstGeom>
          <a:solidFill>
            <a:schemeClr val="tx1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b="1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Find the contiguous subarray with the largest sum. Return the max sum and indices (start, end).</a:t>
            </a:r>
            <a:br>
              <a:rPr lang="en-US" b="1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b="1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Input: Array of integers (may be negative).</a:t>
            </a:r>
          </a:p>
          <a:p>
            <a:r>
              <a:rPr lang="en-US" b="1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Output: "Max sum: X from index </a:t>
            </a:r>
            <a:r>
              <a:rPr lang="en-US" b="1" i="0" dirty="0" err="1">
                <a:effectLst/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lang="en-US" b="1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to j" </a:t>
            </a:r>
            <a:endParaRPr lang="en-US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3803324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07460"/>
    </mc:Choice>
    <mc:Fallback xmlns="">
      <p:transition spd="slow" advTm="207460"/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5.6|40.3|25.2|40.6|10.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5.6|40.3|25.2|40.6|10.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5.6|40.3|25.2|40.6|10.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5.6|40.3|25.2|40.6|10.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5.6|40.3|25.2|40.6|10.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5.6|40.3|25.2|40.6|10.1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791</TotalTime>
  <Words>667</Words>
  <Application>Microsoft Office PowerPoint</Application>
  <PresentationFormat>Widescreen</PresentationFormat>
  <Paragraphs>85</Paragraphs>
  <Slides>11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Aptos</vt:lpstr>
      <vt:lpstr>Aptos Display</vt:lpstr>
      <vt:lpstr>Arial</vt:lpstr>
      <vt:lpstr>Times New Roman</vt:lpstr>
      <vt:lpstr>Office Theme</vt:lpstr>
      <vt:lpstr>1_Office Theme</vt:lpstr>
      <vt:lpstr>PowerPoint Presentation</vt:lpstr>
      <vt:lpstr>Compilers, Interpreters, and JIT</vt:lpstr>
      <vt:lpstr>Compilers, Interpreters, and JIT</vt:lpstr>
      <vt:lpstr>Processor Chip:</vt:lpstr>
      <vt:lpstr>PowerPoint Presentation</vt:lpstr>
      <vt:lpstr>The Go lang:</vt:lpstr>
      <vt:lpstr>The Go Program Structure:</vt:lpstr>
      <vt:lpstr>The Go Data Types:</vt:lpstr>
      <vt:lpstr>The Go Control Structures:</vt:lpstr>
      <vt:lpstr>The Go Arrays:</vt:lpstr>
      <vt:lpstr>Exercises: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Al-Hassan Abdelhalim</dc:creator>
  <cp:lastModifiedBy>Al-Hassan Abdelhalim</cp:lastModifiedBy>
  <cp:revision>109</cp:revision>
  <dcterms:created xsi:type="dcterms:W3CDTF">2026-02-14T08:24:36Z</dcterms:created>
  <dcterms:modified xsi:type="dcterms:W3CDTF">2026-02-15T20:49:53Z</dcterms:modified>
</cp:coreProperties>
</file>